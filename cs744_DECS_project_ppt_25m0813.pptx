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Proxima Nova"/>
      <p:regular r:id="rId14"/>
      <p:bold r:id="rId15"/>
      <p:italic r:id="rId16"/>
      <p:boldItalic r:id="rId17"/>
    </p:embeddedFont>
    <p:embeddedFont>
      <p:font typeface="Roboto Mono"/>
      <p:regular r:id="rId18"/>
      <p:bold r:id="rId19"/>
      <p:italic r:id="rId20"/>
      <p:boldItalic r:id="rId21"/>
    </p:embeddedFont>
    <p:embeddedFont>
      <p:font typeface="Alfa Slab One"/>
      <p:regular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italic.fntdata"/><Relationship Id="rId11" Type="http://schemas.openxmlformats.org/officeDocument/2006/relationships/slide" Target="slides/slide6.xml"/><Relationship Id="rId22" Type="http://schemas.openxmlformats.org/officeDocument/2006/relationships/font" Target="fonts/AlfaSlabOne-regular.fntdata"/><Relationship Id="rId10" Type="http://schemas.openxmlformats.org/officeDocument/2006/relationships/slide" Target="slides/slide5.xml"/><Relationship Id="rId21" Type="http://schemas.openxmlformats.org/officeDocument/2006/relationships/font" Target="fonts/RobotoMon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roximaNova-bold.fntdata"/><Relationship Id="rId14" Type="http://schemas.openxmlformats.org/officeDocument/2006/relationships/font" Target="fonts/ProximaNova-regular.fntdata"/><Relationship Id="rId17" Type="http://schemas.openxmlformats.org/officeDocument/2006/relationships/font" Target="fonts/ProximaNova-boldItalic.fntdata"/><Relationship Id="rId16" Type="http://schemas.openxmlformats.org/officeDocument/2006/relationships/font" Target="fonts/ProximaNova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bold.fntdata"/><Relationship Id="rId6" Type="http://schemas.openxmlformats.org/officeDocument/2006/relationships/slide" Target="slides/slide1.xml"/><Relationship Id="rId18" Type="http://schemas.openxmlformats.org/officeDocument/2006/relationships/font" Target="fonts/RobotoMon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91396408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a91396408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91396408f_0_1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91396408f_0_1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91396408f_0_1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91396408f_0_1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91396408f_0_1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91396408f_0_1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91396408f_0_1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91396408f_0_1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91396408f_0_1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91396408f_0_1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9175569a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9175569a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cli.post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275183" y="2696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CS744 DECS KEY VALUE  SERVER PROJECT</a:t>
            </a:r>
            <a:endParaRPr sz="3200"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Arpit Meher (25m0813)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Untitled diagram-2025-11-23-2347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3550" y="152400"/>
            <a:ext cx="4503150" cy="483870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432900" y="820225"/>
            <a:ext cx="2680800" cy="28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System </a:t>
            </a:r>
            <a: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Architecture</a:t>
            </a:r>
            <a: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Diagram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Red- cache bound workload path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Blue - disk bound workload path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DEVELOPMENT</a:t>
            </a:r>
            <a:r>
              <a:rPr lang="en">
                <a:solidFill>
                  <a:schemeClr val="dk2"/>
                </a:solidFill>
              </a:rPr>
              <a:t> PROCESS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Wrote most of the code for server and load generator using “httplib.h”.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Used leetcode implementation of LRU cache.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Wrote code using prepare statement for sql queries used 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Took help of chatgpt to do database connection pooling  and resolve errors encountered using unique ptr.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Third party software used - </a:t>
            </a:r>
            <a:r>
              <a:rPr lang="en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cmake,</a:t>
            </a:r>
            <a:r>
              <a:rPr lang="en" sz="13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libmysqlcppconn-dev,</a:t>
            </a:r>
            <a:r>
              <a:rPr lang="en" sz="13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libssl-dev,</a:t>
            </a:r>
            <a:r>
              <a:rPr lang="en" sz="13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mysql-server, httplib.h, mermaid</a:t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LOAD GENERATOR DESIGN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 putall, getall, getpopular and default  mixed workload using “httplib.h”.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Uses atomic variables to calculate throughput and avg response time.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But only used putall (disk-bound) and getpopular (cpu-bound) for testing.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Closed loop design uses cli.get() and </a:t>
            </a:r>
            <a:r>
              <a:rPr lang="en" u="sng">
                <a:solidFill>
                  <a:schemeClr val="hlink"/>
                </a:solidFill>
                <a:hlinkClick r:id="rId3"/>
              </a:rPr>
              <a:t>cli.post</a:t>
            </a:r>
            <a:r>
              <a:rPr lang="en"/>
              <a:t>() blocking calls to ensure its closed loop and wait for response before sending another request using same thread.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Pinning loadgenerator on cores 3-15 (13 cores) while using 2 cores for server and 1 for mysql. Use increasing number of threads to test bottlenecks in cpu and disk io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LOAD TEST SETUP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Kv_server pinned on core 1 and 2, Mysql on 0 and loadgenerator on 3-15.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8 experiments used 180s duration and both 360s and 180s were giving almost similar results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Parameters measured: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Avg response time and Throughput for both.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CPU usage (htop) for Workload 1 - getpopular.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Disk usage(iostat -d -x 2) for Workload 2 -putall.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Figure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600" y="448600"/>
            <a:ext cx="3733200" cy="223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8" title="Figure_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7975" y="448600"/>
            <a:ext cx="3733200" cy="223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8" title="Figure_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37975" y="2688530"/>
            <a:ext cx="3733200" cy="223992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8"/>
          <p:cNvSpPr txBox="1"/>
          <p:nvPr/>
        </p:nvSpPr>
        <p:spPr>
          <a:xfrm>
            <a:off x="759475" y="2923950"/>
            <a:ext cx="3630300" cy="18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Getpopular workload - cpu bound 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c</a:t>
            </a: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pu% use - appprox 93%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Throughput after </a:t>
            </a: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hitting</a:t>
            </a: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bottleneck</a:t>
            </a: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- approx 11200 req/sec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9" title="thread_vs_throughput.png"/>
          <p:cNvPicPr preferRelativeResize="0"/>
          <p:nvPr/>
        </p:nvPicPr>
        <p:blipFill rotWithShape="1">
          <a:blip r:embed="rId3">
            <a:alphaModFix/>
          </a:blip>
          <a:srcRect b="9" l="0" r="0" t="9"/>
          <a:stretch/>
        </p:blipFill>
        <p:spPr>
          <a:xfrm>
            <a:off x="547950" y="362400"/>
            <a:ext cx="3876849" cy="232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9" title="thread_vs_latency.png"/>
          <p:cNvPicPr preferRelativeResize="0"/>
          <p:nvPr/>
        </p:nvPicPr>
        <p:blipFill rotWithShape="1">
          <a:blip r:embed="rId4">
            <a:alphaModFix/>
          </a:blip>
          <a:srcRect b="9" l="0" r="0" t="9"/>
          <a:stretch/>
        </p:blipFill>
        <p:spPr>
          <a:xfrm>
            <a:off x="4637975" y="362410"/>
            <a:ext cx="3876849" cy="2326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9" title="thread_vs_diskusage.png"/>
          <p:cNvPicPr preferRelativeResize="0"/>
          <p:nvPr/>
        </p:nvPicPr>
        <p:blipFill rotWithShape="1">
          <a:blip r:embed="rId5">
            <a:alphaModFix/>
          </a:blip>
          <a:srcRect b="9" l="0" r="0" t="9"/>
          <a:stretch/>
        </p:blipFill>
        <p:spPr>
          <a:xfrm>
            <a:off x="4637975" y="2688530"/>
            <a:ext cx="3733202" cy="223992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/>
          <p:nvPr/>
        </p:nvSpPr>
        <p:spPr>
          <a:xfrm>
            <a:off x="759475" y="2923950"/>
            <a:ext cx="3630300" cy="18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putall</a:t>
            </a: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workload - disk bound 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disk% use - appprox 78%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Throughput after hitting bottleneck - approx 5300 req/sec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253250" y="2285400"/>
            <a:ext cx="8411700" cy="19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